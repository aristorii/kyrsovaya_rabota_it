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15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A2E2A"/>
                </a:solidFill>
              </a:defRPr>
            </a:pPr>
            <a:r>
              <a:t>Сахарный цех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F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/>
          <a:lstStyle/>
          <a:p>
            <a:pPr algn="ctr">
              <a:spcAft>
                <a:spcPts val="2000"/>
              </a:spcAft>
              <a:defRPr sz="2400">
                <a:solidFill>
                  <a:srgbClr val="4A2E2A"/>
                </a:solidFill>
              </a:defRPr>
            </a:pPr>
            <a:r>
              <a:t>Сайт и сквозная аналитика заявок</a:t>
            </a:r>
            <a:br/>
            <a:r>
              <a:t>Курсовая работа · ОП.03 · ТЗ-12/2026</a:t>
            </a:r>
          </a:p>
          <a:p>
            <a:pPr>
              <a:defRPr sz="1700">
                <a:solidFill>
                  <a:srgbClr val="D1567A"/>
                </a:solidFill>
              </a:defRPr>
            </a:pPr>
            <a:r>
              <a:t>Указать ФИО и группу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2E2A"/>
                </a:solidFill>
              </a:defRPr>
            </a:pPr>
            <a:r>
              <a:t>ОП.03 · ТЗ-12/2026 · «Сахарный цех»                                  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15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A2E2A"/>
                </a:solidFill>
              </a:defRPr>
            </a:pPr>
            <a:r>
              <a:t>Проблема заказчика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F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/>
          <a:lstStyle/>
          <a:p>
            <a:pPr algn="ctr">
              <a:spcAft>
                <a:spcPts val="2000"/>
              </a:spcAft>
              <a:defRPr sz="2400">
                <a:solidFill>
                  <a:srgbClr val="4A2E2A"/>
                </a:solidFill>
              </a:defRPr>
            </a:pPr>
            <a:r>
              <a:t>Нужен понятный путь от знакомства с тортами до заявки.</a:t>
            </a:r>
          </a:p>
          <a:p>
            <a:pPr>
              <a:defRPr sz="1700">
                <a:solidFill>
                  <a:srgbClr val="D1567A"/>
                </a:solidFill>
              </a:defRPr>
            </a:pPr>
            <a:r>
              <a:t>Каталог · конструктор · источник перехода · единый реестр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2E2A"/>
                </a:solidFill>
              </a:defRPr>
            </a:pPr>
            <a:r>
              <a:t>ОП.03 · ТЗ-12/2026 · «Сахарный цех»                                  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15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A2E2A"/>
                </a:solidFill>
              </a:defRPr>
            </a:pPr>
            <a:r>
              <a:t>Схема решения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F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/>
          <a:lstStyle/>
          <a:p>
            <a:pPr algn="ctr">
              <a:spcAft>
                <a:spcPts val="2000"/>
              </a:spcAft>
              <a:defRPr sz="2400">
                <a:solidFill>
                  <a:srgbClr val="4A2E2A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2E2A"/>
                </a:solidFill>
              </a:defRPr>
            </a:pPr>
            <a:r>
              <a:t>ОП.03 · ТЗ-12/2026 · «Сахарный цех»                                  03/12</a:t>
            </a:r>
          </a:p>
        </p:txBody>
      </p:sp>
      <p:pic>
        <p:nvPicPr>
          <p:cNvPr id="6" name="Picture 5" descr="sc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10515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15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A2E2A"/>
                </a:solidFill>
              </a:defRPr>
            </a:pPr>
            <a:r>
              <a:t>Сайт и каталог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F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/>
          <a:lstStyle/>
          <a:p>
            <a:pPr algn="ctr">
              <a:spcAft>
                <a:spcPts val="2000"/>
              </a:spcAft>
              <a:defRPr sz="2400">
                <a:solidFill>
                  <a:srgbClr val="4A2E2A"/>
                </a:solidFill>
              </a:defRPr>
            </a:pPr>
            <a:r>
              <a:t>9 HTML-страниц: главная, каталог, конструктор, начинки, порции, контакты, спасибо, политика, 404.</a:t>
            </a:r>
          </a:p>
          <a:p>
            <a:pPr>
              <a:defRPr sz="1700">
                <a:solidFill>
                  <a:srgbClr val="D1567A"/>
                </a:solidFill>
              </a:defRPr>
            </a:pPr>
            <a:r>
              <a:t>После публикации добавить реальные кадры desktop/mobile и Lighthouse.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2E2A"/>
                </a:solidFill>
              </a:defRPr>
            </a:pPr>
            <a:r>
              <a:t>ОП.03 · ТЗ-12/2026 · «Сахарный цех»                                  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15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A2E2A"/>
                </a:solidFill>
              </a:defRPr>
            </a:pPr>
            <a:r>
              <a:t>Путь заявки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F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/>
          <a:lstStyle/>
          <a:p>
            <a:pPr algn="ctr">
              <a:spcAft>
                <a:spcPts val="2000"/>
              </a:spcAft>
              <a:defRPr sz="2400">
                <a:solidFill>
                  <a:srgbClr val="4A2E2A"/>
                </a:solidFill>
              </a:defRPr>
            </a:pPr>
            <a:r>
              <a:t>Пользователь указывает повод, вес, начинку, дату и контакты.</a:t>
            </a:r>
          </a:p>
          <a:p>
            <a:pPr>
              <a:defRPr sz="1700">
                <a:solidFill>
                  <a:srgbClr val="D1567A"/>
                </a:solidFill>
              </a:defRPr>
            </a:pPr>
            <a:r>
              <a:t>Проверить реальную запись в Google Sheets перед защитой.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2E2A"/>
                </a:solidFill>
              </a:defRPr>
            </a:pPr>
            <a:r>
              <a:t>ОП.03 · ТЗ-12/2026 · «Сахарный цех»                                  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15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A2E2A"/>
                </a:solidFill>
              </a:defRPr>
            </a:pPr>
            <a:r>
              <a:t>Instagram → сайт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F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/>
          <a:lstStyle/>
          <a:p>
            <a:pPr algn="ctr">
              <a:spcAft>
                <a:spcPts val="2000"/>
              </a:spcAft>
              <a:defRPr sz="2400">
                <a:solidFill>
                  <a:srgbClr val="4A2E2A"/>
                </a:solidFill>
              </a:defRPr>
            </a:pPr>
            <a:r>
              <a:t>Две ветки ManyChat: «ГОСТИ» и «ДЕТИ».</a:t>
            </a:r>
          </a:p>
          <a:p>
            <a:pPr>
              <a:defRPr sz="1700">
                <a:solidFill>
                  <a:srgbClr val="D1567A"/>
                </a:solidFill>
              </a:defRPr>
            </a:pPr>
            <a:r>
              <a:t>Добавить кадры из подключённого аккаунта.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2E2A"/>
                </a:solidFill>
              </a:defRPr>
            </a:pPr>
            <a:r>
              <a:t>ОП.03 · ТЗ-12/2026 · «Сахарный цех»                                  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15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A2E2A"/>
                </a:solidFill>
              </a:defRPr>
            </a:pPr>
            <a:r>
              <a:t>GA4: события и источники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F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/>
          <a:lstStyle/>
          <a:p>
            <a:pPr algn="ctr">
              <a:spcAft>
                <a:spcPts val="2000"/>
              </a:spcAft>
              <a:defRPr sz="2400">
                <a:solidFill>
                  <a:srgbClr val="4A2E2A"/>
                </a:solidFill>
              </a:defRPr>
            </a:pPr>
            <a:r>
              <a:t>Подготовлены события взаимодействий и сохранение UTM.</a:t>
            </a:r>
          </a:p>
          <a:p>
            <a:pPr>
              <a:defRPr sz="1700">
                <a:solidFill>
                  <a:srgbClr val="D1567A"/>
                </a:solidFill>
              </a:defRPr>
            </a:pPr>
            <a:r>
              <a:t>Вставить реальный Measurement ID и кадр DebugView.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2E2A"/>
                </a:solidFill>
              </a:defRPr>
            </a:pPr>
            <a:r>
              <a:t>ОП.03 · ТЗ-12/2026 · «Сахарный цех»                                  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15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A2E2A"/>
                </a:solidFill>
              </a:defRPr>
            </a:pPr>
            <a:r>
              <a:t>Воронка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F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/>
          <a:lstStyle/>
          <a:p>
            <a:pPr algn="ctr">
              <a:spcAft>
                <a:spcPts val="2000"/>
              </a:spcAft>
              <a:defRPr sz="2400">
                <a:solidFill>
                  <a:srgbClr val="4A2E2A"/>
                </a:solidFill>
              </a:defRPr>
            </a:pPr>
            <a:r>
              <a:t>Просмотр → каталог → конструктор → форма → заявка.</a:t>
            </a:r>
          </a:p>
          <a:p>
            <a:pPr>
              <a:defRPr sz="1700">
                <a:solidFill>
                  <a:srgbClr val="D1567A"/>
                </a:solidFill>
              </a:defRPr>
            </a:pPr>
            <a:r>
              <a:t>Добавить Explore funnel и фактическую точку потери.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2E2A"/>
                </a:solidFill>
              </a:defRPr>
            </a:pPr>
            <a:r>
              <a:t>ОП.03 · ТЗ-12/2026 · «Сахарный цех»                                  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15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A2E2A"/>
                </a:solidFill>
              </a:defRPr>
            </a:pPr>
            <a:r>
              <a:t>Дашборд DataLens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F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/>
          <a:lstStyle/>
          <a:p>
            <a:pPr algn="ctr">
              <a:spcAft>
                <a:spcPts val="2000"/>
              </a:spcAft>
              <a:defRPr sz="2400">
                <a:solidFill>
                  <a:srgbClr val="4A2E2A"/>
                </a:solidFill>
              </a:defRPr>
            </a:pPr>
            <a:r>
              <a:t>Три вкладки: «Трафик», «Заявки», «Кампании».</a:t>
            </a:r>
          </a:p>
          <a:p>
            <a:pPr>
              <a:defRPr sz="1700">
                <a:solidFill>
                  <a:srgbClr val="D1567A"/>
                </a:solidFill>
              </a:defRPr>
            </a:pPr>
            <a:r>
              <a:t>Создать на реальных данных и добавить кадр.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2E2A"/>
                </a:solidFill>
              </a:defRPr>
            </a:pPr>
            <a:r>
              <a:t>ОП.03 · ТЗ-12/2026 · «Сахарный цех»                                  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15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A2E2A"/>
                </a:solidFill>
              </a:defRPr>
            </a:pPr>
            <a:r>
              <a:t>Польза для бизнеса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F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/>
          <a:lstStyle/>
          <a:p>
            <a:pPr algn="ctr">
              <a:spcAft>
                <a:spcPts val="2000"/>
              </a:spcAft>
              <a:defRPr sz="2400">
                <a:solidFill>
                  <a:srgbClr val="4A2E2A"/>
                </a:solidFill>
              </a:defRPr>
            </a:pPr>
            <a:r>
              <a:t>Единый реестр обращений и возможность сравнивать источники.</a:t>
            </a:r>
          </a:p>
          <a:p>
            <a:pPr>
              <a:defRPr sz="1700">
                <a:solidFill>
                  <a:srgbClr val="D1567A"/>
                </a:solidFill>
              </a:defRPr>
            </a:pPr>
            <a:r>
              <a:t>Выводы и рекомендации — только по результатам теста.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2E2A"/>
                </a:solidFill>
              </a:defRPr>
            </a:pPr>
            <a:r>
              <a:t>ОП.03 · ТЗ-12/2026 · «Сахарный цех»                                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15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A2E2A"/>
                </a:solidFill>
              </a:defRPr>
            </a:pPr>
            <a:r>
              <a:t>Как использован 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F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/>
          <a:lstStyle/>
          <a:p>
            <a:pPr algn="ctr">
              <a:spcAft>
                <a:spcPts val="2000"/>
              </a:spcAft>
              <a:defRPr sz="2400">
                <a:solidFill>
                  <a:srgbClr val="4A2E2A"/>
                </a:solidFill>
              </a:defRPr>
            </a:pPr>
            <a:r>
              <a:t>ИИ помог подготовить черновой код, документацию, схему и презентацию.</a:t>
            </a:r>
          </a:p>
          <a:p>
            <a:pPr>
              <a:defRPr sz="1700">
                <a:solidFill>
                  <a:srgbClr val="D1567A"/>
                </a:solidFill>
              </a:defRPr>
            </a:pPr>
            <a:r>
              <a:t>Код проверяется вручную; интеграции тестируются в аккаунтах.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2E2A"/>
                </a:solidFill>
              </a:defRPr>
            </a:pPr>
            <a:r>
              <a:t>ОП.03 · ТЗ-12/2026 · «Сахарный цех»                                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15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4A2E2A"/>
                </a:solidFill>
              </a:defRPr>
            </a:pPr>
            <a:r>
              <a:t>Ссылки и демонстрация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106424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F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274320"/>
          <a:lstStyle/>
          <a:p>
            <a:pPr algn="ctr">
              <a:spcAft>
                <a:spcPts val="2000"/>
              </a:spcAft>
              <a:defRPr sz="2400">
                <a:solidFill>
                  <a:srgbClr val="4A2E2A"/>
                </a:solidFill>
              </a:defRPr>
            </a:pPr>
            <a:r>
              <a:t>Репозиторий: добавить ссылку</a:t>
            </a:r>
            <a:br/>
            <a:r>
              <a:t>Сайт: добавить ссылку</a:t>
            </a:r>
            <a:br/>
            <a:r>
              <a:t>GA4 / Sheets / DataLens: добавить ссылки</a:t>
            </a:r>
          </a:p>
          <a:p>
            <a:pPr>
              <a:defRPr sz="1700">
                <a:solidFill>
                  <a:srgbClr val="D1567A"/>
                </a:solidFill>
              </a:defRPr>
            </a:pPr>
            <a:r>
              <a:t>Финальный слайд заполнить после публикации.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2E2A"/>
                </a:solidFill>
              </a:defRPr>
            </a:pPr>
            <a:r>
              <a:t>ОП.03 · ТЗ-12/2026 · «Сахарный цех»                                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